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2404050" cy="43206988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sz="8500" kern="1200">
        <a:solidFill>
          <a:schemeClr val="bg1"/>
        </a:solidFill>
        <a:latin typeface="Arial" panose="020B060402020202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30" d="100"/>
          <a:sy n="30" d="100"/>
        </p:scale>
        <p:origin x="756" y="-470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880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331F374-AA02-06C9-605C-E3A340320E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BE5E7C-13E2-F01E-FBF1-C1D1A3EDC7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84375-D79E-4E11-8EAD-213DBE4F25D7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2D5716-6351-5F78-6846-ADD638AC98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C6729F-4DC2-9432-8DDF-261F1CD02B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C15AD-AA59-41A2-8E23-9236B510D0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729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1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2" name="AutoShape 3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/>
          </a:p>
        </p:txBody>
      </p:sp>
      <p:sp>
        <p:nvSpPr>
          <p:cNvPr id="205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890375"/>
            <a:ext cx="11793537" cy="1267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altLang="pt-BR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43125" y="695325"/>
            <a:ext cx="257175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463" y="13422313"/>
            <a:ext cx="27543125" cy="92614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925" y="24484013"/>
            <a:ext cx="22682200" cy="11041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55616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620838" y="10082213"/>
            <a:ext cx="29162375" cy="28514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20344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59050" y="27763788"/>
            <a:ext cx="27544713" cy="858202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59050" y="18313400"/>
            <a:ext cx="27544713" cy="94503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736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20838" y="10082213"/>
            <a:ext cx="14504987" cy="28514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78225" y="10082213"/>
            <a:ext cx="14504988" cy="285146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64089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620838" y="13701713"/>
            <a:ext cx="14316075" cy="248951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6460788" y="13701713"/>
            <a:ext cx="14322425" cy="248951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0234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91847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261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669838" y="1720850"/>
            <a:ext cx="18113375" cy="368760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20838" y="9040813"/>
            <a:ext cx="10660062" cy="29556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6805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51588" y="30245050"/>
            <a:ext cx="19442112" cy="357028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588" y="3860800"/>
            <a:ext cx="19442112" cy="25923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51588" y="33815338"/>
            <a:ext cx="19442112" cy="507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004464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0082213"/>
            <a:ext cx="29162375" cy="28514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734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3493413" y="1730375"/>
            <a:ext cx="7289800" cy="36866513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620838" y="1730375"/>
            <a:ext cx="21720175" cy="368665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5247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Imagem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278050"/>
            <a:ext cx="32400875" cy="292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400000" cy="70682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0800">
          <a:solidFill>
            <a:srgbClr val="000000"/>
          </a:solidFill>
          <a:latin typeface="Calibri" pitchFamily="32" charset="0"/>
          <a:ea typeface="Microsoft YaHei" charset="-122"/>
        </a:defRPr>
      </a:lvl9pPr>
    </p:titleStyle>
    <p:bodyStyle>
      <a:lvl1pPr marL="342900" indent="-342900" algn="l" defTabSz="449263" rtl="0" eaLnBrk="0" fontAlgn="base" hangingPunct="0">
        <a:spcBef>
          <a:spcPts val="37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51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33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32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28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13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95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95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eaLnBrk="0" fontAlgn="base" hangingPunct="0">
        <a:spcBef>
          <a:spcPts val="2375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95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>
            <a:spLocks noChangeArrowheads="1"/>
          </p:cNvSpPr>
          <p:nvPr/>
        </p:nvSpPr>
        <p:spPr bwMode="auto">
          <a:xfrm>
            <a:off x="0" y="7872682"/>
            <a:ext cx="31035625" cy="97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buSzPct val="100000"/>
            </a:pPr>
            <a:r>
              <a:rPr lang="pt-BR" sz="6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OCEANO EM COLAPSO: ARTE COMO ALERTA </a:t>
            </a:r>
            <a:endParaRPr lang="pt-BR" altLang="pt-BR" sz="6000" b="1" dirty="0">
              <a:solidFill>
                <a:srgbClr val="A6A6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744487" y="9479408"/>
            <a:ext cx="15265400" cy="3029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Adriely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Fernanda Pereira de Souza -email:adriely.1417556@edutec.sed.ms.gov.br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Carolina Ortega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Odeque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Maia-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carolina.1318257@edutec.sed.ms.gov.br,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Endreos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 Silva Dantas- </a:t>
            </a:r>
            <a:r>
              <a:rPr lang="pt-BR" alt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endreos.1018231@edutec.sed.ms.gov.br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Estudante:  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Henry Gabriel Pereira Murta da Silva-email:henry.1288832@edutec.sed.ms.gov.br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Estudante: 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Yasmim Ramos do Prado - email:yasmim.1436597@edutec.sed.ms.gov.b</a:t>
            </a:r>
            <a:endParaRPr lang="pt-BR" alt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Orientador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Elaine Cristina Rozendo Seleguim-email:elaine.496102@edutec.sed.ms.gov.br</a:t>
            </a:r>
          </a:p>
          <a:p>
            <a:pPr eaLnBrk="1" hangingPunct="1"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Coorientador</a:t>
            </a:r>
            <a:r>
              <a:rPr lang="pt-BR" alt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Luana de Oliveira Ferreira Crivelli-email:luana.424038@edutec.sed.ms.gov.br</a:t>
            </a: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16706850" y="9479409"/>
            <a:ext cx="15120938" cy="2620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buSzPct val="100000"/>
            </a:pPr>
            <a:r>
              <a:rPr lang="pt-BR" altLang="pt-B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 da instituição de ensino Escola Estadual </a:t>
            </a:r>
            <a:r>
              <a:rPr lang="pt-BR" altLang="pt-BR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Austrílio</a:t>
            </a:r>
            <a:r>
              <a:rPr lang="pt-BR" altLang="pt-BR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Capilé Castro</a:t>
            </a:r>
          </a:p>
          <a:p>
            <a:pPr eaLnBrk="1" hangingPunct="1">
              <a:buSzPct val="100000"/>
            </a:pPr>
            <a:r>
              <a:rPr lang="pt-BR" altLang="pt-BR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Endereço eletrônico da instituição: eeacc@sed.ms.gov.br</a:t>
            </a:r>
          </a:p>
          <a:p>
            <a:pPr eaLnBrk="1" hangingPunct="1">
              <a:buSzPct val="100000"/>
            </a:pPr>
            <a:r>
              <a:rPr lang="pt-BR" altLang="pt-BR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Curso/Série dos estudantes: Ensino Fundamental/9º ano </a:t>
            </a:r>
          </a:p>
          <a:p>
            <a:pPr eaLnBrk="1" hangingPunct="1">
              <a:buSzPct val="100000"/>
            </a:pPr>
            <a:r>
              <a:rPr lang="pt-BR" altLang="pt-BR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Município/MS Nova Andradina/MS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360363" y="33457395"/>
            <a:ext cx="31611887" cy="6652678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360363" y="12603386"/>
            <a:ext cx="31611887" cy="21124193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31800" y="12767456"/>
            <a:ext cx="31547707" cy="204521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201900" algn="l"/>
                <a:tab pos="15925800" algn="l"/>
                <a:tab pos="16649700" algn="l"/>
              </a:tabLst>
              <a:defRPr sz="850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buSzPct val="100000"/>
            </a:pPr>
            <a:r>
              <a:rPr lang="pt-BR" altLang="pt-BR" sz="6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  <a:p>
            <a:pPr algn="just" eaLnBrk="1" hangingPunct="1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133850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9410700" algn="l"/>
                <a:tab pos="10134600" algn="l"/>
                <a:tab pos="10858500" algn="l"/>
                <a:tab pos="11582400" algn="l"/>
                <a:tab pos="12306300" algn="l"/>
                <a:tab pos="13030200" algn="l"/>
                <a:tab pos="13754100" algn="l"/>
                <a:tab pos="14478000" algn="l"/>
                <a:tab pos="15925800" algn="l"/>
                <a:tab pos="16649700" algn="l"/>
              </a:tabLst>
              <a:defRPr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mudanças climáticas têm causado efeitos alarmantes nos ecossistemas aquáticos, impactando diretamente oceanos, rios, lagos e nascentes. O aumento da temperatura global, a elevação do nível do mar, à acidificação dos oceanos e a intensificação de eventos climáticos extremos ameaçam a biodiversidade marinha e a disponibilidade de água potável. Na região, esses impactos se refletem na diminuição da qualidade da água, na poluição hídrica e na degradação de ecossistemas próximos, afetando não apenas o meio ambiente, mas também comunidades humanas. Diante disso, a arte surge como ferramenta poderosa e sensível, permitindo enxergar questões ambientais de forma mais humana e crítica. A instalação artística coletiva proposta neste projeto une pesquisa, criatividade e expressão visual para sensibilizar a comunidade escolar sobre a preservação da água e a importância da cultura oceânica.</a:t>
            </a:r>
          </a:p>
          <a:p>
            <a:pPr algn="just" eaLnBrk="1" hangingPunct="1">
              <a:buSzPct val="100000"/>
            </a:pPr>
            <a:r>
              <a:rPr lang="pt-BR" altLang="pt-BR" sz="6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</a:p>
          <a:p>
            <a:pPr algn="just" eaLnBrk="1" hangingPunct="1">
              <a:buSzPct val="100000"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metodologia do projeto foi dividida em quatro etapas. A primeira etapa consistiu na pesquisa teórica e contextual sobre os impactos das mudanças climáticas nos corpos d'água. Incluiu investigação de casos de poluição hídrica, consulta a reportagens, estudos científicos e documentários, como os materiais da Década da Ciência Oceânica (ONU).A segunda etapa envolveu sensibilização e reflexão, com exibição de vídeos e imagens, seguida por roda de conversa, abordando percepção ambiental e responsabilidade coletiva. A terceira etapa foi a criação artística: os alunos planejaram e esboçaram ideias, confeccionando objetos com materiais recicláveis (plásticos, PETs, tecidos, etc.)que representassem poluição, espécies marinhas e mensagens de alerta. Por fim, a quarta etapa foi a montagem e apresentação da instalação, organizada em área comum da escola e aberta à comunidade escolar. Os alunos atuaram como mediadores da exposição.</a:t>
            </a:r>
          </a:p>
          <a:p>
            <a:pPr algn="just" eaLnBrk="1" hangingPunct="1">
              <a:buSzPct val="100000"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 análises</a:t>
            </a:r>
          </a:p>
          <a:p>
            <a:pPr algn="just" eaLnBrk="1" hangingPunct="1">
              <a:buSzPct val="100000"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Espera-se que a instalação provoque impacto visual e emocional, despertando a consciência ambiental e incentivando mudanças de hábitos. A participação ativa dos estudantes permite compreensão profundados problemas ambientais, além do desenvolvimento de habilidades criativas, trabalho colaborativo e senso de comunidade. Durante a análise, serão observadas reações do público, interações com a obra e relatos sobre reflexões despertadas. Também será feita uma avaliação com os alunos sobre seus aprendizados.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Considerações finais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experiência proposta mostra que a Arte pode ser poderosa na educação ambiental, tornando visíveis questões urgentes como a crise climática. Ao unir pesquisa, criação e ação coletiva, o projeto promove sensibilização e protagonismo juvenil na defesa da água e dos oceanos. Reafirma-se a importância de integrar práticas artísticas ao currículo escolar, fortalecendo o compromisso com a preservação do planeta.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Agradecimentos</a:t>
            </a:r>
          </a:p>
          <a:p>
            <a:pPr algn="just" eaLnBrk="1" hangingPunct="1">
              <a:buSzPct val="100000"/>
              <a:buFont typeface="Times New Roman" panose="02020603050405020304" pitchFamily="18" charset="0"/>
              <a:buNone/>
            </a:pP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Agradecemos à Escola Estadual </a:t>
            </a:r>
            <a:r>
              <a:rPr lang="pt-BR" altLang="pt-BR" sz="3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Austrílio</a:t>
            </a:r>
            <a:r>
              <a:rPr lang="pt-BR" altLang="pt-BR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Capilé Castro, aos professores, colegas e à equipe da FECINOVA pelo apoio. Nosso reconhecimento especial aos alunos envolvidos, cuja dedicação tornou este projeto possível</a:t>
            </a:r>
            <a:r>
              <a:rPr lang="pt-BR" altLang="pt-BR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buSzPct val="100000"/>
            </a:pPr>
            <a:r>
              <a:rPr lang="pt-BR" altLang="pt-BR" sz="63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  <a:p>
            <a:pPr algn="just" eaLnBrk="1" hangingPunct="1">
              <a:buSzPct val="100000"/>
            </a:pP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1]ORGANIZAÇÃO DAS NAÇÕES UNIDAS. 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Década da Ciência Oceânica para o Desenvolvimento Sustentável (2021–2030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Disponível em: https://oceandecade.org/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ocean-decade-news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/. Acesso em: 7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  <a:p>
            <a:pPr algn="just" eaLnBrk="1" hangingPunct="1">
              <a:buSzPct val="100000"/>
            </a:pP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IPCC. 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Relatório Especial sobre o Oceano e a Criosfera em um Clima em Mudança. 2019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Disponível em: https://www.ipcc.ch/site/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/uploads/sites/3/2020/11/SROCC_SPM_Portuguese.pdf. Acesso em: 11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  <a:p>
            <a:pPr algn="just" eaLnBrk="1" hangingPunct="1">
              <a:buSzPct val="100000"/>
            </a:pP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BRASIL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Ministério do Meio Ambiente. Substâncias Químicas.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Disponível em: https://www.gov.br/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mma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pt-br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/noticias/comissao-nacional-de-seguranca-quimica-atualiza-lista-de-substancias-quimicas-presentes-em-plasticos. Acesso em: 15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  <a:p>
            <a:pPr algn="just" eaLnBrk="1" hangingPunct="1">
              <a:buSzPct val="100000"/>
            </a:pP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UNESCO. </a:t>
            </a:r>
            <a:r>
              <a:rPr lang="pt-BR" altLang="pt-BR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Cultura Oceânica para todos: Kit pedagógico. 2020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Disponível em: https://unesdoc.unesco.org/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ark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:/48223/pf0000373449. Acesso em: 13 </a:t>
            </a:r>
            <a:r>
              <a:rPr lang="pt-BR" altLang="pt-BR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alt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</p:txBody>
      </p: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360363" y="7705951"/>
            <a:ext cx="31611887" cy="1413490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360363" y="9307847"/>
            <a:ext cx="15984538" cy="3243782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16489363" y="9307847"/>
            <a:ext cx="15482887" cy="3200632"/>
          </a:xfrm>
          <a:prstGeom prst="rect">
            <a:avLst/>
          </a:prstGeom>
          <a:noFill/>
          <a:ln w="25560">
            <a:solidFill>
              <a:srgbClr val="9BBB5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1" descr="C:\Users\86797999120\Desktop\fetec_carimb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4763" y="10153802"/>
            <a:ext cx="25209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CaixaDeTexto 13"/>
          <p:cNvSpPr txBox="1">
            <a:spLocks noChangeArrowheads="1"/>
          </p:cNvSpPr>
          <p:nvPr/>
        </p:nvSpPr>
        <p:spPr bwMode="auto">
          <a:xfrm>
            <a:off x="1978143" y="38641106"/>
            <a:ext cx="576064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Figura 1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– Esboço da instalação 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Fonte: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AUTOR, ano 2025 </a:t>
            </a:r>
          </a:p>
        </p:txBody>
      </p:sp>
      <p:sp>
        <p:nvSpPr>
          <p:cNvPr id="35" name="CaixaDeTexto 14"/>
          <p:cNvSpPr txBox="1">
            <a:spLocks noChangeArrowheads="1"/>
          </p:cNvSpPr>
          <p:nvPr/>
        </p:nvSpPr>
        <p:spPr bwMode="auto">
          <a:xfrm>
            <a:off x="11814356" y="38766696"/>
            <a:ext cx="740691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Figura 2 –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Esboço da instalação em 3D.</a:t>
            </a: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Fonte: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Próprio Autor (2025). </a:t>
            </a:r>
          </a:p>
        </p:txBody>
      </p:sp>
      <p:sp>
        <p:nvSpPr>
          <p:cNvPr id="36" name="CaixaDeTexto 16"/>
          <p:cNvSpPr txBox="1">
            <a:spLocks noChangeArrowheads="1"/>
          </p:cNvSpPr>
          <p:nvPr/>
        </p:nvSpPr>
        <p:spPr bwMode="auto">
          <a:xfrm>
            <a:off x="21413745" y="38403325"/>
            <a:ext cx="878508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buClr>
                <a:srgbClr val="000000"/>
              </a:buClr>
              <a:buSzPct val="100000"/>
            </a:pP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Figura 3 –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Alunos confeccionando animais marinhos com papelão</a:t>
            </a:r>
            <a:r>
              <a:rPr lang="pt-BR" altLang="pt-BR" sz="2800" b="1" dirty="0">
                <a:solidFill>
                  <a:schemeClr val="tx1"/>
                </a:solidFill>
                <a:cs typeface="Arial" panose="020B0604020202020204" pitchFamily="34" charset="0"/>
              </a:rPr>
              <a:t>. Fonte: </a:t>
            </a:r>
            <a:r>
              <a:rPr lang="pt-BR" altLang="pt-BR" sz="2800" dirty="0">
                <a:solidFill>
                  <a:schemeClr val="tx1"/>
                </a:solidFill>
                <a:cs typeface="Arial" panose="020B0604020202020204" pitchFamily="34" charset="0"/>
              </a:rPr>
              <a:t>Próprio Autor (2025). </a:t>
            </a:r>
          </a:p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pt-BR" altLang="pt-BR" sz="28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7A79832-5B35-F638-26F1-FF53D5148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0134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955A6516-1BE6-7958-524E-1C699E81F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399" y="34012455"/>
            <a:ext cx="7152826" cy="439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534FFE2D-9CD2-B2EA-F79C-750ABEBA2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566" y="33986556"/>
            <a:ext cx="9737756" cy="439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Grupo de pessoas sentadas ao redor de uma mesa&#10;&#10;Descrição gerada automaticamente com confiança média">
            <a:extLst>
              <a:ext uri="{FF2B5EF4-FFF2-40B4-BE49-F238E27FC236}">
                <a16:creationId xmlns:a16="http://schemas.microsoft.com/office/drawing/2014/main" id="{A5ECE340-C968-8FAC-D515-B39C932D9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91286" y="33917910"/>
            <a:ext cx="11430000" cy="461674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o Office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pt-BR" sz="8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altLang="pt-BR" sz="85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Tema do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o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o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916</Words>
  <Application>Microsoft Office PowerPoint</Application>
  <PresentationFormat>Personalizar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wilmara.rios</dc:creator>
  <cp:lastModifiedBy>Gabriely Seleguim Barbosa</cp:lastModifiedBy>
  <cp:revision>61</cp:revision>
  <cp:lastPrinted>1601-01-01T00:00:00Z</cp:lastPrinted>
  <dcterms:created xsi:type="dcterms:W3CDTF">2012-08-20T21:07:48Z</dcterms:created>
  <dcterms:modified xsi:type="dcterms:W3CDTF">2025-10-10T01:32:38Z</dcterms:modified>
</cp:coreProperties>
</file>